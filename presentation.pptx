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30200F-A297-4A4B-B29E-D0432BCB29D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AE7DD7C-B8F3-4C25-99CD-7917FB1FEAAF}">
      <dgm:prSet/>
      <dgm:spPr/>
      <dgm:t>
        <a:bodyPr/>
        <a:lstStyle/>
        <a:p>
          <a:r>
            <a:rPr lang="en-US" dirty="0">
              <a:latin typeface="Aldhabi" panose="01000000000000000000" pitchFamily="2" charset="-78"/>
              <a:cs typeface="Aldhabi" panose="01000000000000000000" pitchFamily="2" charset="-78"/>
            </a:rPr>
            <a:t>NOAA: Temperature and precipitation anomalies</a:t>
          </a:r>
        </a:p>
      </dgm:t>
    </dgm:pt>
    <dgm:pt modelId="{2A98D746-B644-46CE-A4CF-8EB1757E6814}" type="parTrans" cxnId="{FEAA977D-51B6-4558-83F0-AFE36A39171F}">
      <dgm:prSet/>
      <dgm:spPr/>
      <dgm:t>
        <a:bodyPr/>
        <a:lstStyle/>
        <a:p>
          <a:endParaRPr lang="en-US"/>
        </a:p>
      </dgm:t>
    </dgm:pt>
    <dgm:pt modelId="{FEDC84EE-6BBF-4DE6-8163-08FA6DD2F3B8}" type="sibTrans" cxnId="{FEAA977D-51B6-4558-83F0-AFE36A39171F}">
      <dgm:prSet/>
      <dgm:spPr/>
      <dgm:t>
        <a:bodyPr/>
        <a:lstStyle/>
        <a:p>
          <a:endParaRPr lang="en-US"/>
        </a:p>
      </dgm:t>
    </dgm:pt>
    <dgm:pt modelId="{0325133E-8922-414F-83E6-5996B5FF1346}">
      <dgm:prSet/>
      <dgm:spPr/>
      <dgm:t>
        <a:bodyPr/>
        <a:lstStyle/>
        <a:p>
          <a:r>
            <a:rPr lang="en-US" dirty="0">
              <a:latin typeface="Aldhabi" panose="01000000000000000000" pitchFamily="2" charset="-78"/>
              <a:cs typeface="Aldhabi" panose="01000000000000000000" pitchFamily="2" charset="-78"/>
            </a:rPr>
            <a:t>NIFC: Total US wildfire counts (2000–2023)</a:t>
          </a:r>
        </a:p>
      </dgm:t>
    </dgm:pt>
    <dgm:pt modelId="{198A5651-3FE9-462E-B7FB-971AC3490332}" type="parTrans" cxnId="{6B4FB9CA-320F-4500-8A3F-E9F7D2196DFD}">
      <dgm:prSet/>
      <dgm:spPr/>
      <dgm:t>
        <a:bodyPr/>
        <a:lstStyle/>
        <a:p>
          <a:endParaRPr lang="en-US"/>
        </a:p>
      </dgm:t>
    </dgm:pt>
    <dgm:pt modelId="{39B874AC-07EB-4527-959A-F67E1C26ECD8}" type="sibTrans" cxnId="{6B4FB9CA-320F-4500-8A3F-E9F7D2196DFD}">
      <dgm:prSet/>
      <dgm:spPr/>
      <dgm:t>
        <a:bodyPr/>
        <a:lstStyle/>
        <a:p>
          <a:endParaRPr lang="en-US"/>
        </a:p>
      </dgm:t>
    </dgm:pt>
    <dgm:pt modelId="{FE15D1F1-1C84-4B36-B54E-2BD6BE29465D}">
      <dgm:prSet/>
      <dgm:spPr/>
      <dgm:t>
        <a:bodyPr/>
        <a:lstStyle/>
        <a:p>
          <a:r>
            <a:rPr lang="en-US" dirty="0">
              <a:latin typeface="Aldhabi" panose="01000000000000000000" pitchFamily="2" charset="-78"/>
              <a:cs typeface="Aldhabi" panose="01000000000000000000" pitchFamily="2" charset="-78"/>
            </a:rPr>
            <a:t>Merged by year for analysis</a:t>
          </a:r>
        </a:p>
      </dgm:t>
    </dgm:pt>
    <dgm:pt modelId="{4C8B9E79-DA25-4F08-86AB-F1AEAE7F38E7}" type="parTrans" cxnId="{4E3272DE-69E6-4931-A0CA-C19B9DC9526A}">
      <dgm:prSet/>
      <dgm:spPr/>
      <dgm:t>
        <a:bodyPr/>
        <a:lstStyle/>
        <a:p>
          <a:endParaRPr lang="en-US"/>
        </a:p>
      </dgm:t>
    </dgm:pt>
    <dgm:pt modelId="{4A658313-CBD8-44D2-9D59-2C4ACAC38573}" type="sibTrans" cxnId="{4E3272DE-69E6-4931-A0CA-C19B9DC9526A}">
      <dgm:prSet/>
      <dgm:spPr/>
      <dgm:t>
        <a:bodyPr/>
        <a:lstStyle/>
        <a:p>
          <a:endParaRPr lang="en-US"/>
        </a:p>
      </dgm:t>
    </dgm:pt>
    <dgm:pt modelId="{A33BD785-F964-490C-B1DA-485E71D49A0C}" type="pres">
      <dgm:prSet presAssocID="{0630200F-A297-4A4B-B29E-D0432BCB29D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AAA82CE-E3BF-4B00-8632-254BD4E9D305}" type="pres">
      <dgm:prSet presAssocID="{1AE7DD7C-B8F3-4C25-99CD-7917FB1FEAAF}" presName="hierRoot1" presStyleCnt="0"/>
      <dgm:spPr/>
    </dgm:pt>
    <dgm:pt modelId="{04B47B10-58DD-43AE-981D-89D94F9FB312}" type="pres">
      <dgm:prSet presAssocID="{1AE7DD7C-B8F3-4C25-99CD-7917FB1FEAAF}" presName="composite" presStyleCnt="0"/>
      <dgm:spPr/>
    </dgm:pt>
    <dgm:pt modelId="{8DC796C2-79CB-418B-A25E-2554F5301DAA}" type="pres">
      <dgm:prSet presAssocID="{1AE7DD7C-B8F3-4C25-99CD-7917FB1FEAAF}" presName="background" presStyleLbl="node0" presStyleIdx="0" presStyleCnt="3"/>
      <dgm:spPr/>
    </dgm:pt>
    <dgm:pt modelId="{D09359D8-8685-4AAD-A46E-992310003BB5}" type="pres">
      <dgm:prSet presAssocID="{1AE7DD7C-B8F3-4C25-99CD-7917FB1FEAAF}" presName="text" presStyleLbl="fgAcc0" presStyleIdx="0" presStyleCnt="3">
        <dgm:presLayoutVars>
          <dgm:chPref val="3"/>
        </dgm:presLayoutVars>
      </dgm:prSet>
      <dgm:spPr/>
    </dgm:pt>
    <dgm:pt modelId="{70651A53-CA8E-484D-B373-88E8D0ED937F}" type="pres">
      <dgm:prSet presAssocID="{1AE7DD7C-B8F3-4C25-99CD-7917FB1FEAAF}" presName="hierChild2" presStyleCnt="0"/>
      <dgm:spPr/>
    </dgm:pt>
    <dgm:pt modelId="{B5437960-FD41-406E-94C6-00B2185F022C}" type="pres">
      <dgm:prSet presAssocID="{0325133E-8922-414F-83E6-5996B5FF1346}" presName="hierRoot1" presStyleCnt="0"/>
      <dgm:spPr/>
    </dgm:pt>
    <dgm:pt modelId="{D4D7FCB2-9C74-4658-A385-06D7BEF8D084}" type="pres">
      <dgm:prSet presAssocID="{0325133E-8922-414F-83E6-5996B5FF1346}" presName="composite" presStyleCnt="0"/>
      <dgm:spPr/>
    </dgm:pt>
    <dgm:pt modelId="{100F235B-48EF-43B1-87E9-5C2EBCAD6A51}" type="pres">
      <dgm:prSet presAssocID="{0325133E-8922-414F-83E6-5996B5FF1346}" presName="background" presStyleLbl="node0" presStyleIdx="1" presStyleCnt="3"/>
      <dgm:spPr/>
    </dgm:pt>
    <dgm:pt modelId="{42B335FB-ED62-49D2-A9C7-95FC3194A390}" type="pres">
      <dgm:prSet presAssocID="{0325133E-8922-414F-83E6-5996B5FF1346}" presName="text" presStyleLbl="fgAcc0" presStyleIdx="1" presStyleCnt="3">
        <dgm:presLayoutVars>
          <dgm:chPref val="3"/>
        </dgm:presLayoutVars>
      </dgm:prSet>
      <dgm:spPr/>
    </dgm:pt>
    <dgm:pt modelId="{BAEEA614-CD4E-4230-89C6-4701050BF403}" type="pres">
      <dgm:prSet presAssocID="{0325133E-8922-414F-83E6-5996B5FF1346}" presName="hierChild2" presStyleCnt="0"/>
      <dgm:spPr/>
    </dgm:pt>
    <dgm:pt modelId="{FB21E72E-07FC-45F7-98C6-5627DECCA9B8}" type="pres">
      <dgm:prSet presAssocID="{FE15D1F1-1C84-4B36-B54E-2BD6BE29465D}" presName="hierRoot1" presStyleCnt="0"/>
      <dgm:spPr/>
    </dgm:pt>
    <dgm:pt modelId="{9899DDD8-D587-4E28-8586-7AEF7170D223}" type="pres">
      <dgm:prSet presAssocID="{FE15D1F1-1C84-4B36-B54E-2BD6BE29465D}" presName="composite" presStyleCnt="0"/>
      <dgm:spPr/>
    </dgm:pt>
    <dgm:pt modelId="{2E145F2B-5396-4B0F-88AD-91DA014F8FB9}" type="pres">
      <dgm:prSet presAssocID="{FE15D1F1-1C84-4B36-B54E-2BD6BE29465D}" presName="background" presStyleLbl="node0" presStyleIdx="2" presStyleCnt="3"/>
      <dgm:spPr/>
    </dgm:pt>
    <dgm:pt modelId="{63DBC4EF-D64C-4405-94FC-97427E6FBF7E}" type="pres">
      <dgm:prSet presAssocID="{FE15D1F1-1C84-4B36-B54E-2BD6BE29465D}" presName="text" presStyleLbl="fgAcc0" presStyleIdx="2" presStyleCnt="3">
        <dgm:presLayoutVars>
          <dgm:chPref val="3"/>
        </dgm:presLayoutVars>
      </dgm:prSet>
      <dgm:spPr/>
    </dgm:pt>
    <dgm:pt modelId="{A16BA174-7D8B-4CAF-8B62-1B73CEB85C2F}" type="pres">
      <dgm:prSet presAssocID="{FE15D1F1-1C84-4B36-B54E-2BD6BE29465D}" presName="hierChild2" presStyleCnt="0"/>
      <dgm:spPr/>
    </dgm:pt>
  </dgm:ptLst>
  <dgm:cxnLst>
    <dgm:cxn modelId="{AF723E03-9BE1-4510-B10F-F70DDF9A7173}" type="presOf" srcId="{FE15D1F1-1C84-4B36-B54E-2BD6BE29465D}" destId="{63DBC4EF-D64C-4405-94FC-97427E6FBF7E}" srcOrd="0" destOrd="0" presId="urn:microsoft.com/office/officeart/2005/8/layout/hierarchy1"/>
    <dgm:cxn modelId="{19AD643B-9675-4261-86F4-E2E56F549219}" type="presOf" srcId="{0325133E-8922-414F-83E6-5996B5FF1346}" destId="{42B335FB-ED62-49D2-A9C7-95FC3194A390}" srcOrd="0" destOrd="0" presId="urn:microsoft.com/office/officeart/2005/8/layout/hierarchy1"/>
    <dgm:cxn modelId="{3F5F026B-1C1A-4418-B98B-04F82EF7636B}" type="presOf" srcId="{0630200F-A297-4A4B-B29E-D0432BCB29DE}" destId="{A33BD785-F964-490C-B1DA-485E71D49A0C}" srcOrd="0" destOrd="0" presId="urn:microsoft.com/office/officeart/2005/8/layout/hierarchy1"/>
    <dgm:cxn modelId="{FEAA977D-51B6-4558-83F0-AFE36A39171F}" srcId="{0630200F-A297-4A4B-B29E-D0432BCB29DE}" destId="{1AE7DD7C-B8F3-4C25-99CD-7917FB1FEAAF}" srcOrd="0" destOrd="0" parTransId="{2A98D746-B644-46CE-A4CF-8EB1757E6814}" sibTransId="{FEDC84EE-6BBF-4DE6-8163-08FA6DD2F3B8}"/>
    <dgm:cxn modelId="{518E4982-54E5-4324-95AB-27375B4B1526}" type="presOf" srcId="{1AE7DD7C-B8F3-4C25-99CD-7917FB1FEAAF}" destId="{D09359D8-8685-4AAD-A46E-992310003BB5}" srcOrd="0" destOrd="0" presId="urn:microsoft.com/office/officeart/2005/8/layout/hierarchy1"/>
    <dgm:cxn modelId="{6B4FB9CA-320F-4500-8A3F-E9F7D2196DFD}" srcId="{0630200F-A297-4A4B-B29E-D0432BCB29DE}" destId="{0325133E-8922-414F-83E6-5996B5FF1346}" srcOrd="1" destOrd="0" parTransId="{198A5651-3FE9-462E-B7FB-971AC3490332}" sibTransId="{39B874AC-07EB-4527-959A-F67E1C26ECD8}"/>
    <dgm:cxn modelId="{4E3272DE-69E6-4931-A0CA-C19B9DC9526A}" srcId="{0630200F-A297-4A4B-B29E-D0432BCB29DE}" destId="{FE15D1F1-1C84-4B36-B54E-2BD6BE29465D}" srcOrd="2" destOrd="0" parTransId="{4C8B9E79-DA25-4F08-86AB-F1AEAE7F38E7}" sibTransId="{4A658313-CBD8-44D2-9D59-2C4ACAC38573}"/>
    <dgm:cxn modelId="{AD37212D-7782-4B8A-86EB-4A1A3BCF9298}" type="presParOf" srcId="{A33BD785-F964-490C-B1DA-485E71D49A0C}" destId="{5AAA82CE-E3BF-4B00-8632-254BD4E9D305}" srcOrd="0" destOrd="0" presId="urn:microsoft.com/office/officeart/2005/8/layout/hierarchy1"/>
    <dgm:cxn modelId="{0AD7FF31-E8D4-4123-97B4-CB72CA53DA8D}" type="presParOf" srcId="{5AAA82CE-E3BF-4B00-8632-254BD4E9D305}" destId="{04B47B10-58DD-43AE-981D-89D94F9FB312}" srcOrd="0" destOrd="0" presId="urn:microsoft.com/office/officeart/2005/8/layout/hierarchy1"/>
    <dgm:cxn modelId="{487600B9-0F39-4927-8960-B3EA999DA0D3}" type="presParOf" srcId="{04B47B10-58DD-43AE-981D-89D94F9FB312}" destId="{8DC796C2-79CB-418B-A25E-2554F5301DAA}" srcOrd="0" destOrd="0" presId="urn:microsoft.com/office/officeart/2005/8/layout/hierarchy1"/>
    <dgm:cxn modelId="{15C052A9-D79A-40C3-80B0-C1ADDA85DD85}" type="presParOf" srcId="{04B47B10-58DD-43AE-981D-89D94F9FB312}" destId="{D09359D8-8685-4AAD-A46E-992310003BB5}" srcOrd="1" destOrd="0" presId="urn:microsoft.com/office/officeart/2005/8/layout/hierarchy1"/>
    <dgm:cxn modelId="{8EF03472-11D3-4B59-AD0D-7D725F344F16}" type="presParOf" srcId="{5AAA82CE-E3BF-4B00-8632-254BD4E9D305}" destId="{70651A53-CA8E-484D-B373-88E8D0ED937F}" srcOrd="1" destOrd="0" presId="urn:microsoft.com/office/officeart/2005/8/layout/hierarchy1"/>
    <dgm:cxn modelId="{A25EEE81-4770-483E-9D8D-1327CD778067}" type="presParOf" srcId="{A33BD785-F964-490C-B1DA-485E71D49A0C}" destId="{B5437960-FD41-406E-94C6-00B2185F022C}" srcOrd="1" destOrd="0" presId="urn:microsoft.com/office/officeart/2005/8/layout/hierarchy1"/>
    <dgm:cxn modelId="{5E3CA8C2-B6C6-42D6-AA59-40FBE82004A9}" type="presParOf" srcId="{B5437960-FD41-406E-94C6-00B2185F022C}" destId="{D4D7FCB2-9C74-4658-A385-06D7BEF8D084}" srcOrd="0" destOrd="0" presId="urn:microsoft.com/office/officeart/2005/8/layout/hierarchy1"/>
    <dgm:cxn modelId="{36CD1EB5-A8DD-41A6-90D2-FC4668133617}" type="presParOf" srcId="{D4D7FCB2-9C74-4658-A385-06D7BEF8D084}" destId="{100F235B-48EF-43B1-87E9-5C2EBCAD6A51}" srcOrd="0" destOrd="0" presId="urn:microsoft.com/office/officeart/2005/8/layout/hierarchy1"/>
    <dgm:cxn modelId="{DE7C203F-0D03-4968-BBCB-05296CEF3727}" type="presParOf" srcId="{D4D7FCB2-9C74-4658-A385-06D7BEF8D084}" destId="{42B335FB-ED62-49D2-A9C7-95FC3194A390}" srcOrd="1" destOrd="0" presId="urn:microsoft.com/office/officeart/2005/8/layout/hierarchy1"/>
    <dgm:cxn modelId="{EBD48820-B514-4432-BA87-56F9A75AC7C5}" type="presParOf" srcId="{B5437960-FD41-406E-94C6-00B2185F022C}" destId="{BAEEA614-CD4E-4230-89C6-4701050BF403}" srcOrd="1" destOrd="0" presId="urn:microsoft.com/office/officeart/2005/8/layout/hierarchy1"/>
    <dgm:cxn modelId="{9F35D54E-94F0-42EC-A25A-EBE8A9737B8D}" type="presParOf" srcId="{A33BD785-F964-490C-B1DA-485E71D49A0C}" destId="{FB21E72E-07FC-45F7-98C6-5627DECCA9B8}" srcOrd="2" destOrd="0" presId="urn:microsoft.com/office/officeart/2005/8/layout/hierarchy1"/>
    <dgm:cxn modelId="{F2D7273F-9197-4B0C-9BA8-26AB72269AE6}" type="presParOf" srcId="{FB21E72E-07FC-45F7-98C6-5627DECCA9B8}" destId="{9899DDD8-D587-4E28-8586-7AEF7170D223}" srcOrd="0" destOrd="0" presId="urn:microsoft.com/office/officeart/2005/8/layout/hierarchy1"/>
    <dgm:cxn modelId="{DD6F30E2-CABB-4651-A390-C5BD86EB8DCB}" type="presParOf" srcId="{9899DDD8-D587-4E28-8586-7AEF7170D223}" destId="{2E145F2B-5396-4B0F-88AD-91DA014F8FB9}" srcOrd="0" destOrd="0" presId="urn:microsoft.com/office/officeart/2005/8/layout/hierarchy1"/>
    <dgm:cxn modelId="{541A1A0A-7552-48BC-9CF7-BABAD51028E5}" type="presParOf" srcId="{9899DDD8-D587-4E28-8586-7AEF7170D223}" destId="{63DBC4EF-D64C-4405-94FC-97427E6FBF7E}" srcOrd="1" destOrd="0" presId="urn:microsoft.com/office/officeart/2005/8/layout/hierarchy1"/>
    <dgm:cxn modelId="{2B443D7B-E409-4A7E-BBCD-0E31A585F543}" type="presParOf" srcId="{FB21E72E-07FC-45F7-98C6-5627DECCA9B8}" destId="{A16BA174-7D8B-4CAF-8B62-1B73CEB85C2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AC84A0-A031-4DF5-8D0B-5E0D0385BEFB}" type="doc">
      <dgm:prSet loTypeId="urn:microsoft.com/office/officeart/2008/layout/LinedList" loCatId="list" qsTypeId="urn:microsoft.com/office/officeart/2005/8/quickstyle/simple2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7A0B980-A938-492D-88F1-962496321E0A}">
      <dgm:prSet/>
      <dgm:spPr/>
      <dgm:t>
        <a:bodyPr/>
        <a:lstStyle/>
        <a:p>
          <a:r>
            <a:rPr lang="en-US">
              <a:latin typeface="Abadi" panose="020B0604020104020204" pitchFamily="34" charset="0"/>
              <a:cs typeface="Aldhabi" panose="01000000000000000000" pitchFamily="2" charset="-78"/>
            </a:rPr>
            <a:t>Wildfire counts slightly decreased since ~2006</a:t>
          </a:r>
        </a:p>
      </dgm:t>
    </dgm:pt>
    <dgm:pt modelId="{12B42EE1-6576-4BD8-9285-AB339443874A}" type="parTrans" cxnId="{63D309A3-2B8A-4AC0-9477-9E3C87A33F16}">
      <dgm:prSet/>
      <dgm:spPr/>
      <dgm:t>
        <a:bodyPr/>
        <a:lstStyle/>
        <a:p>
          <a:endParaRPr lang="en-US"/>
        </a:p>
      </dgm:t>
    </dgm:pt>
    <dgm:pt modelId="{C6DCAC79-FC51-4CAC-AFD5-11D38F8C176F}" type="sibTrans" cxnId="{63D309A3-2B8A-4AC0-9477-9E3C87A33F16}">
      <dgm:prSet/>
      <dgm:spPr/>
      <dgm:t>
        <a:bodyPr/>
        <a:lstStyle/>
        <a:p>
          <a:endParaRPr lang="en-US"/>
        </a:p>
      </dgm:t>
    </dgm:pt>
    <dgm:pt modelId="{F87A9731-6D70-459F-8D31-9CD4FDC0DAA2}">
      <dgm:prSet/>
      <dgm:spPr/>
      <dgm:t>
        <a:bodyPr/>
        <a:lstStyle/>
        <a:p>
          <a:r>
            <a:rPr lang="en-US">
              <a:latin typeface="Abadi" panose="020B0604020104020204" pitchFamily="34" charset="0"/>
            </a:rPr>
            <a:t>Temperatures increasing across all 3 states</a:t>
          </a:r>
        </a:p>
      </dgm:t>
    </dgm:pt>
    <dgm:pt modelId="{B7F7D204-4C55-4667-AA0E-D042B69258C5}" type="parTrans" cxnId="{DA532965-041C-4CEC-8007-F38C4FCB15CB}">
      <dgm:prSet/>
      <dgm:spPr/>
      <dgm:t>
        <a:bodyPr/>
        <a:lstStyle/>
        <a:p>
          <a:endParaRPr lang="en-US"/>
        </a:p>
      </dgm:t>
    </dgm:pt>
    <dgm:pt modelId="{96A95EFD-D4B1-407E-B257-241E46979DE2}" type="sibTrans" cxnId="{DA532965-041C-4CEC-8007-F38C4FCB15CB}">
      <dgm:prSet/>
      <dgm:spPr/>
      <dgm:t>
        <a:bodyPr/>
        <a:lstStyle/>
        <a:p>
          <a:endParaRPr lang="en-US"/>
        </a:p>
      </dgm:t>
    </dgm:pt>
    <dgm:pt modelId="{D66A6EF6-6D5C-4090-8C77-0AC136C598A1}">
      <dgm:prSet/>
      <dgm:spPr/>
      <dgm:t>
        <a:bodyPr/>
        <a:lstStyle/>
        <a:p>
          <a:r>
            <a:rPr lang="en-US">
              <a:latin typeface="Abadi" panose="020B0604020104020204" pitchFamily="34" charset="0"/>
            </a:rPr>
            <a:t>Precipitation anomalies more variable</a:t>
          </a:r>
        </a:p>
      </dgm:t>
    </dgm:pt>
    <dgm:pt modelId="{51D5F3D3-0571-4631-AD4F-BAC8E75DBD43}" type="parTrans" cxnId="{EF72E6F5-11F5-4D00-A3D0-DA886678DB09}">
      <dgm:prSet/>
      <dgm:spPr/>
      <dgm:t>
        <a:bodyPr/>
        <a:lstStyle/>
        <a:p>
          <a:endParaRPr lang="en-US"/>
        </a:p>
      </dgm:t>
    </dgm:pt>
    <dgm:pt modelId="{CD9811CF-16C7-4612-8F7F-861191520448}" type="sibTrans" cxnId="{EF72E6F5-11F5-4D00-A3D0-DA886678DB09}">
      <dgm:prSet/>
      <dgm:spPr/>
      <dgm:t>
        <a:bodyPr/>
        <a:lstStyle/>
        <a:p>
          <a:endParaRPr lang="en-US"/>
        </a:p>
      </dgm:t>
    </dgm:pt>
    <dgm:pt modelId="{3978126B-7173-4182-B286-2C98ECEBBD27}" type="pres">
      <dgm:prSet presAssocID="{ECAC84A0-A031-4DF5-8D0B-5E0D0385BEFB}" presName="vert0" presStyleCnt="0">
        <dgm:presLayoutVars>
          <dgm:dir/>
          <dgm:animOne val="branch"/>
          <dgm:animLvl val="lvl"/>
        </dgm:presLayoutVars>
      </dgm:prSet>
      <dgm:spPr/>
    </dgm:pt>
    <dgm:pt modelId="{57EC6754-C660-4D15-962B-60E73732C318}" type="pres">
      <dgm:prSet presAssocID="{77A0B980-A938-492D-88F1-962496321E0A}" presName="thickLine" presStyleLbl="alignNode1" presStyleIdx="0" presStyleCnt="3"/>
      <dgm:spPr/>
    </dgm:pt>
    <dgm:pt modelId="{A4FDB775-3BE3-4A15-8149-7EB8CC208E8E}" type="pres">
      <dgm:prSet presAssocID="{77A0B980-A938-492D-88F1-962496321E0A}" presName="horz1" presStyleCnt="0"/>
      <dgm:spPr/>
    </dgm:pt>
    <dgm:pt modelId="{14B75E19-FC5B-4EA4-ACE9-E70EB68680AC}" type="pres">
      <dgm:prSet presAssocID="{77A0B980-A938-492D-88F1-962496321E0A}" presName="tx1" presStyleLbl="revTx" presStyleIdx="0" presStyleCnt="3"/>
      <dgm:spPr/>
    </dgm:pt>
    <dgm:pt modelId="{F80ABACE-17A7-45D2-8E03-0F7AFFB93D85}" type="pres">
      <dgm:prSet presAssocID="{77A0B980-A938-492D-88F1-962496321E0A}" presName="vert1" presStyleCnt="0"/>
      <dgm:spPr/>
    </dgm:pt>
    <dgm:pt modelId="{7287378A-1254-49F2-B7AE-ACFCABF28589}" type="pres">
      <dgm:prSet presAssocID="{F87A9731-6D70-459F-8D31-9CD4FDC0DAA2}" presName="thickLine" presStyleLbl="alignNode1" presStyleIdx="1" presStyleCnt="3"/>
      <dgm:spPr/>
    </dgm:pt>
    <dgm:pt modelId="{7503F7EA-7F6E-48C6-945F-3CD4D8846FE8}" type="pres">
      <dgm:prSet presAssocID="{F87A9731-6D70-459F-8D31-9CD4FDC0DAA2}" presName="horz1" presStyleCnt="0"/>
      <dgm:spPr/>
    </dgm:pt>
    <dgm:pt modelId="{3A088040-F14D-4599-8173-8001B6D30A91}" type="pres">
      <dgm:prSet presAssocID="{F87A9731-6D70-459F-8D31-9CD4FDC0DAA2}" presName="tx1" presStyleLbl="revTx" presStyleIdx="1" presStyleCnt="3"/>
      <dgm:spPr/>
    </dgm:pt>
    <dgm:pt modelId="{9B5B8B9E-1BAC-41BC-8088-08A13E77A0DC}" type="pres">
      <dgm:prSet presAssocID="{F87A9731-6D70-459F-8D31-9CD4FDC0DAA2}" presName="vert1" presStyleCnt="0"/>
      <dgm:spPr/>
    </dgm:pt>
    <dgm:pt modelId="{EAE08157-8222-4DD8-8D60-92DA24EEFD87}" type="pres">
      <dgm:prSet presAssocID="{D66A6EF6-6D5C-4090-8C77-0AC136C598A1}" presName="thickLine" presStyleLbl="alignNode1" presStyleIdx="2" presStyleCnt="3"/>
      <dgm:spPr/>
    </dgm:pt>
    <dgm:pt modelId="{AE0DBF71-83E7-4C8B-AEE3-68232B924D48}" type="pres">
      <dgm:prSet presAssocID="{D66A6EF6-6D5C-4090-8C77-0AC136C598A1}" presName="horz1" presStyleCnt="0"/>
      <dgm:spPr/>
    </dgm:pt>
    <dgm:pt modelId="{E1AAF7DA-C614-4139-9448-DC69C3BE9D92}" type="pres">
      <dgm:prSet presAssocID="{D66A6EF6-6D5C-4090-8C77-0AC136C598A1}" presName="tx1" presStyleLbl="revTx" presStyleIdx="2" presStyleCnt="3"/>
      <dgm:spPr/>
    </dgm:pt>
    <dgm:pt modelId="{D4486674-569C-4696-A269-C100C59F2B22}" type="pres">
      <dgm:prSet presAssocID="{D66A6EF6-6D5C-4090-8C77-0AC136C598A1}" presName="vert1" presStyleCnt="0"/>
      <dgm:spPr/>
    </dgm:pt>
  </dgm:ptLst>
  <dgm:cxnLst>
    <dgm:cxn modelId="{BC8D7944-D515-4CA1-9368-5E7A12F1664B}" type="presOf" srcId="{F87A9731-6D70-459F-8D31-9CD4FDC0DAA2}" destId="{3A088040-F14D-4599-8173-8001B6D30A91}" srcOrd="0" destOrd="0" presId="urn:microsoft.com/office/officeart/2008/layout/LinedList"/>
    <dgm:cxn modelId="{DA532965-041C-4CEC-8007-F38C4FCB15CB}" srcId="{ECAC84A0-A031-4DF5-8D0B-5E0D0385BEFB}" destId="{F87A9731-6D70-459F-8D31-9CD4FDC0DAA2}" srcOrd="1" destOrd="0" parTransId="{B7F7D204-4C55-4667-AA0E-D042B69258C5}" sibTransId="{96A95EFD-D4B1-407E-B257-241E46979DE2}"/>
    <dgm:cxn modelId="{B6794D48-9267-46B1-9652-8EEA2ACF5672}" type="presOf" srcId="{D66A6EF6-6D5C-4090-8C77-0AC136C598A1}" destId="{E1AAF7DA-C614-4139-9448-DC69C3BE9D92}" srcOrd="0" destOrd="0" presId="urn:microsoft.com/office/officeart/2008/layout/LinedList"/>
    <dgm:cxn modelId="{AB43B476-2058-4DBE-8115-1B29ADD75CD0}" type="presOf" srcId="{ECAC84A0-A031-4DF5-8D0B-5E0D0385BEFB}" destId="{3978126B-7173-4182-B286-2C98ECEBBD27}" srcOrd="0" destOrd="0" presId="urn:microsoft.com/office/officeart/2008/layout/LinedList"/>
    <dgm:cxn modelId="{63D309A3-2B8A-4AC0-9477-9E3C87A33F16}" srcId="{ECAC84A0-A031-4DF5-8D0B-5E0D0385BEFB}" destId="{77A0B980-A938-492D-88F1-962496321E0A}" srcOrd="0" destOrd="0" parTransId="{12B42EE1-6576-4BD8-9285-AB339443874A}" sibTransId="{C6DCAC79-FC51-4CAC-AFD5-11D38F8C176F}"/>
    <dgm:cxn modelId="{2CD7C3D7-B824-463B-ACAB-1CB5A0D63C3F}" type="presOf" srcId="{77A0B980-A938-492D-88F1-962496321E0A}" destId="{14B75E19-FC5B-4EA4-ACE9-E70EB68680AC}" srcOrd="0" destOrd="0" presId="urn:microsoft.com/office/officeart/2008/layout/LinedList"/>
    <dgm:cxn modelId="{EF72E6F5-11F5-4D00-A3D0-DA886678DB09}" srcId="{ECAC84A0-A031-4DF5-8D0B-5E0D0385BEFB}" destId="{D66A6EF6-6D5C-4090-8C77-0AC136C598A1}" srcOrd="2" destOrd="0" parTransId="{51D5F3D3-0571-4631-AD4F-BAC8E75DBD43}" sibTransId="{CD9811CF-16C7-4612-8F7F-861191520448}"/>
    <dgm:cxn modelId="{ED0CD945-BE3B-46D6-878E-C6018EC4F309}" type="presParOf" srcId="{3978126B-7173-4182-B286-2C98ECEBBD27}" destId="{57EC6754-C660-4D15-962B-60E73732C318}" srcOrd="0" destOrd="0" presId="urn:microsoft.com/office/officeart/2008/layout/LinedList"/>
    <dgm:cxn modelId="{2CE7BD2A-3E01-437C-91C6-9BC4D1C22EE5}" type="presParOf" srcId="{3978126B-7173-4182-B286-2C98ECEBBD27}" destId="{A4FDB775-3BE3-4A15-8149-7EB8CC208E8E}" srcOrd="1" destOrd="0" presId="urn:microsoft.com/office/officeart/2008/layout/LinedList"/>
    <dgm:cxn modelId="{7B6925A1-AFEF-4BD9-816E-D374F26F89E9}" type="presParOf" srcId="{A4FDB775-3BE3-4A15-8149-7EB8CC208E8E}" destId="{14B75E19-FC5B-4EA4-ACE9-E70EB68680AC}" srcOrd="0" destOrd="0" presId="urn:microsoft.com/office/officeart/2008/layout/LinedList"/>
    <dgm:cxn modelId="{D5605504-03BF-4A64-A9A4-7E9EC5FBA66B}" type="presParOf" srcId="{A4FDB775-3BE3-4A15-8149-7EB8CC208E8E}" destId="{F80ABACE-17A7-45D2-8E03-0F7AFFB93D85}" srcOrd="1" destOrd="0" presId="urn:microsoft.com/office/officeart/2008/layout/LinedList"/>
    <dgm:cxn modelId="{C706E77F-B83E-455D-AF2C-B569F0321A84}" type="presParOf" srcId="{3978126B-7173-4182-B286-2C98ECEBBD27}" destId="{7287378A-1254-49F2-B7AE-ACFCABF28589}" srcOrd="2" destOrd="0" presId="urn:microsoft.com/office/officeart/2008/layout/LinedList"/>
    <dgm:cxn modelId="{E13C62EC-259A-42B9-8556-723F3ED19956}" type="presParOf" srcId="{3978126B-7173-4182-B286-2C98ECEBBD27}" destId="{7503F7EA-7F6E-48C6-945F-3CD4D8846FE8}" srcOrd="3" destOrd="0" presId="urn:microsoft.com/office/officeart/2008/layout/LinedList"/>
    <dgm:cxn modelId="{7F8CF42E-3B9C-45C8-81B2-E849DBD96113}" type="presParOf" srcId="{7503F7EA-7F6E-48C6-945F-3CD4D8846FE8}" destId="{3A088040-F14D-4599-8173-8001B6D30A91}" srcOrd="0" destOrd="0" presId="urn:microsoft.com/office/officeart/2008/layout/LinedList"/>
    <dgm:cxn modelId="{2A0C8DBD-F55D-4E79-ADF1-BDFCB7362BA3}" type="presParOf" srcId="{7503F7EA-7F6E-48C6-945F-3CD4D8846FE8}" destId="{9B5B8B9E-1BAC-41BC-8088-08A13E77A0DC}" srcOrd="1" destOrd="0" presId="urn:microsoft.com/office/officeart/2008/layout/LinedList"/>
    <dgm:cxn modelId="{622227F6-12F0-4940-8D7C-F1B18A789AF9}" type="presParOf" srcId="{3978126B-7173-4182-B286-2C98ECEBBD27}" destId="{EAE08157-8222-4DD8-8D60-92DA24EEFD87}" srcOrd="4" destOrd="0" presId="urn:microsoft.com/office/officeart/2008/layout/LinedList"/>
    <dgm:cxn modelId="{FC8B62A8-1E47-4782-9722-AF6B43472100}" type="presParOf" srcId="{3978126B-7173-4182-B286-2C98ECEBBD27}" destId="{AE0DBF71-83E7-4C8B-AEE3-68232B924D48}" srcOrd="5" destOrd="0" presId="urn:microsoft.com/office/officeart/2008/layout/LinedList"/>
    <dgm:cxn modelId="{AD397077-15C3-4114-9CFC-CA9EF03DF410}" type="presParOf" srcId="{AE0DBF71-83E7-4C8B-AEE3-68232B924D48}" destId="{E1AAF7DA-C614-4139-9448-DC69C3BE9D92}" srcOrd="0" destOrd="0" presId="urn:microsoft.com/office/officeart/2008/layout/LinedList"/>
    <dgm:cxn modelId="{197499AA-0398-4D6C-A663-89349364C16B}" type="presParOf" srcId="{AE0DBF71-83E7-4C8B-AEE3-68232B924D48}" destId="{D4486674-569C-4696-A269-C100C59F2B2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A000675-28DB-40A2-84DA-F853A4374EB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F8D85E1-FC2C-4969-9EBC-359604BC84D0}">
      <dgm:prSet/>
      <dgm:spPr/>
      <dgm:t>
        <a:bodyPr/>
        <a:lstStyle/>
        <a:p>
          <a:r>
            <a:rPr lang="en-US" dirty="0">
              <a:latin typeface="Abadi" panose="020B0604020104020204" pitchFamily="34" charset="0"/>
            </a:rPr>
            <a:t>Wildfire count not solely driven by climate</a:t>
          </a:r>
        </a:p>
      </dgm:t>
    </dgm:pt>
    <dgm:pt modelId="{F72A8E3D-F9CC-4772-8D9B-8C0B17C274AB}" type="parTrans" cxnId="{E57DB913-EE69-4396-AF10-E557A8092644}">
      <dgm:prSet/>
      <dgm:spPr/>
      <dgm:t>
        <a:bodyPr/>
        <a:lstStyle/>
        <a:p>
          <a:endParaRPr lang="en-US"/>
        </a:p>
      </dgm:t>
    </dgm:pt>
    <dgm:pt modelId="{891AD3B9-B5EE-46AF-AE93-D37344914F5A}" type="sibTrans" cxnId="{E57DB913-EE69-4396-AF10-E557A8092644}">
      <dgm:prSet/>
      <dgm:spPr/>
      <dgm:t>
        <a:bodyPr/>
        <a:lstStyle/>
        <a:p>
          <a:endParaRPr lang="en-US"/>
        </a:p>
      </dgm:t>
    </dgm:pt>
    <dgm:pt modelId="{75B41BC4-2B5A-4D51-B7FA-2AD6A2632703}">
      <dgm:prSet/>
      <dgm:spPr/>
      <dgm:t>
        <a:bodyPr/>
        <a:lstStyle/>
        <a:p>
          <a:r>
            <a:rPr lang="en-US" dirty="0">
              <a:latin typeface="Abadi" panose="020B0604020104020204" pitchFamily="34" charset="0"/>
            </a:rPr>
            <a:t>Fire suppression, policy, and land use also matter</a:t>
          </a:r>
        </a:p>
      </dgm:t>
    </dgm:pt>
    <dgm:pt modelId="{72C42FD0-5661-4E71-A957-07D0AAE5EB65}" type="parTrans" cxnId="{7B2F3FB4-1BC4-4BD1-8AB8-7BE30AB8BD92}">
      <dgm:prSet/>
      <dgm:spPr/>
      <dgm:t>
        <a:bodyPr/>
        <a:lstStyle/>
        <a:p>
          <a:endParaRPr lang="en-US"/>
        </a:p>
      </dgm:t>
    </dgm:pt>
    <dgm:pt modelId="{4C49D500-A3F0-437B-BCB5-F36ABB508A92}" type="sibTrans" cxnId="{7B2F3FB4-1BC4-4BD1-8AB8-7BE30AB8BD92}">
      <dgm:prSet/>
      <dgm:spPr/>
      <dgm:t>
        <a:bodyPr/>
        <a:lstStyle/>
        <a:p>
          <a:endParaRPr lang="en-US"/>
        </a:p>
      </dgm:t>
    </dgm:pt>
    <dgm:pt modelId="{FC6CD94C-865C-498F-AC32-3512EA175865}">
      <dgm:prSet/>
      <dgm:spPr/>
      <dgm:t>
        <a:bodyPr/>
        <a:lstStyle/>
        <a:p>
          <a:r>
            <a:rPr lang="en-US" dirty="0">
              <a:latin typeface="Abadi" panose="020B0604020104020204" pitchFamily="34" charset="0"/>
            </a:rPr>
            <a:t>Severity vs count: more fires doesn’t mean worse fires</a:t>
          </a:r>
        </a:p>
      </dgm:t>
    </dgm:pt>
    <dgm:pt modelId="{43D1CBDE-E444-41DF-8F14-2EA0B475F2F8}" type="parTrans" cxnId="{78A4A854-27B2-4CA0-8775-398C9B048FD9}">
      <dgm:prSet/>
      <dgm:spPr/>
      <dgm:t>
        <a:bodyPr/>
        <a:lstStyle/>
        <a:p>
          <a:endParaRPr lang="en-US"/>
        </a:p>
      </dgm:t>
    </dgm:pt>
    <dgm:pt modelId="{759DDA03-BA65-44BA-AF22-CC4798B33FCA}" type="sibTrans" cxnId="{78A4A854-27B2-4CA0-8775-398C9B048FD9}">
      <dgm:prSet/>
      <dgm:spPr/>
      <dgm:t>
        <a:bodyPr/>
        <a:lstStyle/>
        <a:p>
          <a:endParaRPr lang="en-US"/>
        </a:p>
      </dgm:t>
    </dgm:pt>
    <dgm:pt modelId="{863AFCAA-F496-4438-9C02-B55D817792D1}" type="pres">
      <dgm:prSet presAssocID="{0A000675-28DB-40A2-84DA-F853A4374EB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0B631A-49EF-4F81-80CE-728EFEB4B38B}" type="pres">
      <dgm:prSet presAssocID="{7F8D85E1-FC2C-4969-9EBC-359604BC84D0}" presName="hierRoot1" presStyleCnt="0"/>
      <dgm:spPr/>
    </dgm:pt>
    <dgm:pt modelId="{A3C7B8FC-C3BA-4BB1-9FE0-98BCD58ABBB9}" type="pres">
      <dgm:prSet presAssocID="{7F8D85E1-FC2C-4969-9EBC-359604BC84D0}" presName="composite" presStyleCnt="0"/>
      <dgm:spPr/>
    </dgm:pt>
    <dgm:pt modelId="{1A34168D-7A1B-4E8E-90AA-232E76C8CF10}" type="pres">
      <dgm:prSet presAssocID="{7F8D85E1-FC2C-4969-9EBC-359604BC84D0}" presName="background" presStyleLbl="node0" presStyleIdx="0" presStyleCnt="3"/>
      <dgm:spPr/>
    </dgm:pt>
    <dgm:pt modelId="{0582A53E-B1F4-4F0A-9FC6-E6395E179496}" type="pres">
      <dgm:prSet presAssocID="{7F8D85E1-FC2C-4969-9EBC-359604BC84D0}" presName="text" presStyleLbl="fgAcc0" presStyleIdx="0" presStyleCnt="3">
        <dgm:presLayoutVars>
          <dgm:chPref val="3"/>
        </dgm:presLayoutVars>
      </dgm:prSet>
      <dgm:spPr/>
    </dgm:pt>
    <dgm:pt modelId="{7DC11D25-38F9-4723-A61D-98B738CA196E}" type="pres">
      <dgm:prSet presAssocID="{7F8D85E1-FC2C-4969-9EBC-359604BC84D0}" presName="hierChild2" presStyleCnt="0"/>
      <dgm:spPr/>
    </dgm:pt>
    <dgm:pt modelId="{90FB469B-2835-41EA-920E-87350E288A36}" type="pres">
      <dgm:prSet presAssocID="{75B41BC4-2B5A-4D51-B7FA-2AD6A2632703}" presName="hierRoot1" presStyleCnt="0"/>
      <dgm:spPr/>
    </dgm:pt>
    <dgm:pt modelId="{1F41ED65-B945-4374-B15B-E14347B764B7}" type="pres">
      <dgm:prSet presAssocID="{75B41BC4-2B5A-4D51-B7FA-2AD6A2632703}" presName="composite" presStyleCnt="0"/>
      <dgm:spPr/>
    </dgm:pt>
    <dgm:pt modelId="{23B8272E-D413-4A66-A8C6-B0698F6EEE4D}" type="pres">
      <dgm:prSet presAssocID="{75B41BC4-2B5A-4D51-B7FA-2AD6A2632703}" presName="background" presStyleLbl="node0" presStyleIdx="1" presStyleCnt="3"/>
      <dgm:spPr/>
    </dgm:pt>
    <dgm:pt modelId="{49EBA346-D517-4F47-A23B-7868B1E64CCD}" type="pres">
      <dgm:prSet presAssocID="{75B41BC4-2B5A-4D51-B7FA-2AD6A2632703}" presName="text" presStyleLbl="fgAcc0" presStyleIdx="1" presStyleCnt="3">
        <dgm:presLayoutVars>
          <dgm:chPref val="3"/>
        </dgm:presLayoutVars>
      </dgm:prSet>
      <dgm:spPr/>
    </dgm:pt>
    <dgm:pt modelId="{4A31CF1E-3093-4F0C-8375-03AA0262AB9B}" type="pres">
      <dgm:prSet presAssocID="{75B41BC4-2B5A-4D51-B7FA-2AD6A2632703}" presName="hierChild2" presStyleCnt="0"/>
      <dgm:spPr/>
    </dgm:pt>
    <dgm:pt modelId="{E367B8F9-ECA2-4016-9DE5-97C4E793FC14}" type="pres">
      <dgm:prSet presAssocID="{FC6CD94C-865C-498F-AC32-3512EA175865}" presName="hierRoot1" presStyleCnt="0"/>
      <dgm:spPr/>
    </dgm:pt>
    <dgm:pt modelId="{14B1F6A6-F03D-4E96-9F8F-6D8498145325}" type="pres">
      <dgm:prSet presAssocID="{FC6CD94C-865C-498F-AC32-3512EA175865}" presName="composite" presStyleCnt="0"/>
      <dgm:spPr/>
    </dgm:pt>
    <dgm:pt modelId="{58B7747F-39DD-4C53-9256-5B4A1E1ABF27}" type="pres">
      <dgm:prSet presAssocID="{FC6CD94C-865C-498F-AC32-3512EA175865}" presName="background" presStyleLbl="node0" presStyleIdx="2" presStyleCnt="3"/>
      <dgm:spPr/>
    </dgm:pt>
    <dgm:pt modelId="{93896184-A3CD-4853-9146-D8ED86EFE71A}" type="pres">
      <dgm:prSet presAssocID="{FC6CD94C-865C-498F-AC32-3512EA175865}" presName="text" presStyleLbl="fgAcc0" presStyleIdx="2" presStyleCnt="3">
        <dgm:presLayoutVars>
          <dgm:chPref val="3"/>
        </dgm:presLayoutVars>
      </dgm:prSet>
      <dgm:spPr/>
    </dgm:pt>
    <dgm:pt modelId="{95BC9B18-0996-4E4F-9C80-2CABF0CBF3FE}" type="pres">
      <dgm:prSet presAssocID="{FC6CD94C-865C-498F-AC32-3512EA175865}" presName="hierChild2" presStyleCnt="0"/>
      <dgm:spPr/>
    </dgm:pt>
  </dgm:ptLst>
  <dgm:cxnLst>
    <dgm:cxn modelId="{2A02A800-6766-4716-A868-8206F10566BA}" type="presOf" srcId="{75B41BC4-2B5A-4D51-B7FA-2AD6A2632703}" destId="{49EBA346-D517-4F47-A23B-7868B1E64CCD}" srcOrd="0" destOrd="0" presId="urn:microsoft.com/office/officeart/2005/8/layout/hierarchy1"/>
    <dgm:cxn modelId="{E57DB913-EE69-4396-AF10-E557A8092644}" srcId="{0A000675-28DB-40A2-84DA-F853A4374EB9}" destId="{7F8D85E1-FC2C-4969-9EBC-359604BC84D0}" srcOrd="0" destOrd="0" parTransId="{F72A8E3D-F9CC-4772-8D9B-8C0B17C274AB}" sibTransId="{891AD3B9-B5EE-46AF-AE93-D37344914F5A}"/>
    <dgm:cxn modelId="{3D425B3D-44CC-4393-BAE3-05C7733C5F74}" type="presOf" srcId="{FC6CD94C-865C-498F-AC32-3512EA175865}" destId="{93896184-A3CD-4853-9146-D8ED86EFE71A}" srcOrd="0" destOrd="0" presId="urn:microsoft.com/office/officeart/2005/8/layout/hierarchy1"/>
    <dgm:cxn modelId="{42B8DB3E-D280-459B-974E-951370B01321}" type="presOf" srcId="{0A000675-28DB-40A2-84DA-F853A4374EB9}" destId="{863AFCAA-F496-4438-9C02-B55D817792D1}" srcOrd="0" destOrd="0" presId="urn:microsoft.com/office/officeart/2005/8/layout/hierarchy1"/>
    <dgm:cxn modelId="{78A4A854-27B2-4CA0-8775-398C9B048FD9}" srcId="{0A000675-28DB-40A2-84DA-F853A4374EB9}" destId="{FC6CD94C-865C-498F-AC32-3512EA175865}" srcOrd="2" destOrd="0" parTransId="{43D1CBDE-E444-41DF-8F14-2EA0B475F2F8}" sibTransId="{759DDA03-BA65-44BA-AF22-CC4798B33FCA}"/>
    <dgm:cxn modelId="{7B2F3FB4-1BC4-4BD1-8AB8-7BE30AB8BD92}" srcId="{0A000675-28DB-40A2-84DA-F853A4374EB9}" destId="{75B41BC4-2B5A-4D51-B7FA-2AD6A2632703}" srcOrd="1" destOrd="0" parTransId="{72C42FD0-5661-4E71-A957-07D0AAE5EB65}" sibTransId="{4C49D500-A3F0-437B-BCB5-F36ABB508A92}"/>
    <dgm:cxn modelId="{537CE4F7-CC16-4518-8740-31C5461584F7}" type="presOf" srcId="{7F8D85E1-FC2C-4969-9EBC-359604BC84D0}" destId="{0582A53E-B1F4-4F0A-9FC6-E6395E179496}" srcOrd="0" destOrd="0" presId="urn:microsoft.com/office/officeart/2005/8/layout/hierarchy1"/>
    <dgm:cxn modelId="{B7D6557A-6229-4A9F-8EDE-6A95016A73B8}" type="presParOf" srcId="{863AFCAA-F496-4438-9C02-B55D817792D1}" destId="{D60B631A-49EF-4F81-80CE-728EFEB4B38B}" srcOrd="0" destOrd="0" presId="urn:microsoft.com/office/officeart/2005/8/layout/hierarchy1"/>
    <dgm:cxn modelId="{E4A7250F-76F5-4344-87EF-247AD1F6C072}" type="presParOf" srcId="{D60B631A-49EF-4F81-80CE-728EFEB4B38B}" destId="{A3C7B8FC-C3BA-4BB1-9FE0-98BCD58ABBB9}" srcOrd="0" destOrd="0" presId="urn:microsoft.com/office/officeart/2005/8/layout/hierarchy1"/>
    <dgm:cxn modelId="{17215F02-6A5A-4094-BF9C-1F598A9C7187}" type="presParOf" srcId="{A3C7B8FC-C3BA-4BB1-9FE0-98BCD58ABBB9}" destId="{1A34168D-7A1B-4E8E-90AA-232E76C8CF10}" srcOrd="0" destOrd="0" presId="urn:microsoft.com/office/officeart/2005/8/layout/hierarchy1"/>
    <dgm:cxn modelId="{D423C530-B488-477D-A4B6-94981A01E3F4}" type="presParOf" srcId="{A3C7B8FC-C3BA-4BB1-9FE0-98BCD58ABBB9}" destId="{0582A53E-B1F4-4F0A-9FC6-E6395E179496}" srcOrd="1" destOrd="0" presId="urn:microsoft.com/office/officeart/2005/8/layout/hierarchy1"/>
    <dgm:cxn modelId="{FD76933D-2247-4167-A9D6-535D270454ED}" type="presParOf" srcId="{D60B631A-49EF-4F81-80CE-728EFEB4B38B}" destId="{7DC11D25-38F9-4723-A61D-98B738CA196E}" srcOrd="1" destOrd="0" presId="urn:microsoft.com/office/officeart/2005/8/layout/hierarchy1"/>
    <dgm:cxn modelId="{804A1C91-2BA8-4E85-B4DC-D2EBFD873C4F}" type="presParOf" srcId="{863AFCAA-F496-4438-9C02-B55D817792D1}" destId="{90FB469B-2835-41EA-920E-87350E288A36}" srcOrd="1" destOrd="0" presId="urn:microsoft.com/office/officeart/2005/8/layout/hierarchy1"/>
    <dgm:cxn modelId="{7C76BB4B-1CCE-4D22-BC4D-D48041210BB9}" type="presParOf" srcId="{90FB469B-2835-41EA-920E-87350E288A36}" destId="{1F41ED65-B945-4374-B15B-E14347B764B7}" srcOrd="0" destOrd="0" presId="urn:microsoft.com/office/officeart/2005/8/layout/hierarchy1"/>
    <dgm:cxn modelId="{374862DC-FAA0-4AFA-8D18-9AD4BDA6F79B}" type="presParOf" srcId="{1F41ED65-B945-4374-B15B-E14347B764B7}" destId="{23B8272E-D413-4A66-A8C6-B0698F6EEE4D}" srcOrd="0" destOrd="0" presId="urn:microsoft.com/office/officeart/2005/8/layout/hierarchy1"/>
    <dgm:cxn modelId="{FC0187CC-36FE-4A2D-B923-7C3CAB7BCDB1}" type="presParOf" srcId="{1F41ED65-B945-4374-B15B-E14347B764B7}" destId="{49EBA346-D517-4F47-A23B-7868B1E64CCD}" srcOrd="1" destOrd="0" presId="urn:microsoft.com/office/officeart/2005/8/layout/hierarchy1"/>
    <dgm:cxn modelId="{87CA79A4-E3CA-4E29-BC46-C9A26160E0D8}" type="presParOf" srcId="{90FB469B-2835-41EA-920E-87350E288A36}" destId="{4A31CF1E-3093-4F0C-8375-03AA0262AB9B}" srcOrd="1" destOrd="0" presId="urn:microsoft.com/office/officeart/2005/8/layout/hierarchy1"/>
    <dgm:cxn modelId="{5B64CBC5-1E2C-41D0-9973-0DDF434E735F}" type="presParOf" srcId="{863AFCAA-F496-4438-9C02-B55D817792D1}" destId="{E367B8F9-ECA2-4016-9DE5-97C4E793FC14}" srcOrd="2" destOrd="0" presId="urn:microsoft.com/office/officeart/2005/8/layout/hierarchy1"/>
    <dgm:cxn modelId="{90553541-30B7-47E8-BFBC-98E8E800D48B}" type="presParOf" srcId="{E367B8F9-ECA2-4016-9DE5-97C4E793FC14}" destId="{14B1F6A6-F03D-4E96-9F8F-6D8498145325}" srcOrd="0" destOrd="0" presId="urn:microsoft.com/office/officeart/2005/8/layout/hierarchy1"/>
    <dgm:cxn modelId="{19DC33EB-83E3-4190-95C3-9A70FC0195B7}" type="presParOf" srcId="{14B1F6A6-F03D-4E96-9F8F-6D8498145325}" destId="{58B7747F-39DD-4C53-9256-5B4A1E1ABF27}" srcOrd="0" destOrd="0" presId="urn:microsoft.com/office/officeart/2005/8/layout/hierarchy1"/>
    <dgm:cxn modelId="{AA277B4F-5B06-4C90-9D82-582B4A382F8B}" type="presParOf" srcId="{14B1F6A6-F03D-4E96-9F8F-6D8498145325}" destId="{93896184-A3CD-4853-9146-D8ED86EFE71A}" srcOrd="1" destOrd="0" presId="urn:microsoft.com/office/officeart/2005/8/layout/hierarchy1"/>
    <dgm:cxn modelId="{CB39A93B-7639-44FD-A361-13F1E89AD8A7}" type="presParOf" srcId="{E367B8F9-ECA2-4016-9DE5-97C4E793FC14}" destId="{95BC9B18-0996-4E4F-9C80-2CABF0CBF3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C796C2-79CB-418B-A25E-2554F5301DAA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9359D8-8685-4AAD-A46E-992310003BB5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ldhabi" panose="01000000000000000000" pitchFamily="2" charset="-78"/>
              <a:cs typeface="Aldhabi" panose="01000000000000000000" pitchFamily="2" charset="-78"/>
            </a:rPr>
            <a:t>NOAA: Temperature and precipitation anomalies</a:t>
          </a:r>
        </a:p>
      </dsp:txBody>
      <dsp:txXfrm>
        <a:off x="283960" y="1066136"/>
        <a:ext cx="2107770" cy="1308711"/>
      </dsp:txXfrm>
    </dsp:sp>
    <dsp:sp modelId="{100F235B-48EF-43B1-87E9-5C2EBCAD6A51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B335FB-ED62-49D2-A9C7-95FC3194A390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ldhabi" panose="01000000000000000000" pitchFamily="2" charset="-78"/>
              <a:cs typeface="Aldhabi" panose="01000000000000000000" pitchFamily="2" charset="-78"/>
            </a:rPr>
            <a:t>NIFC: Total US wildfire counts (2000–2023)</a:t>
          </a:r>
        </a:p>
      </dsp:txBody>
      <dsp:txXfrm>
        <a:off x="2959652" y="1066136"/>
        <a:ext cx="2107770" cy="1308711"/>
      </dsp:txXfrm>
    </dsp:sp>
    <dsp:sp modelId="{2E145F2B-5396-4B0F-88AD-91DA014F8FB9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BC4EF-D64C-4405-94FC-97427E6FBF7E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ldhabi" panose="01000000000000000000" pitchFamily="2" charset="-78"/>
              <a:cs typeface="Aldhabi" panose="01000000000000000000" pitchFamily="2" charset="-78"/>
            </a:rPr>
            <a:t>Merged by year for analysis</a:t>
          </a:r>
        </a:p>
      </dsp:txBody>
      <dsp:txXfrm>
        <a:off x="5635343" y="1066136"/>
        <a:ext cx="2107770" cy="13087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EC6754-C660-4D15-962B-60E73732C318}">
      <dsp:nvSpPr>
        <dsp:cNvPr id="0" name=""/>
        <dsp:cNvSpPr/>
      </dsp:nvSpPr>
      <dsp:spPr>
        <a:xfrm>
          <a:off x="0" y="1327"/>
          <a:ext cx="252635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B75E19-FC5B-4EA4-ACE9-E70EB68680AC}">
      <dsp:nvSpPr>
        <dsp:cNvPr id="0" name=""/>
        <dsp:cNvSpPr/>
      </dsp:nvSpPr>
      <dsp:spPr>
        <a:xfrm>
          <a:off x="0" y="1327"/>
          <a:ext cx="2526357" cy="905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badi" panose="020B0604020104020204" pitchFamily="34" charset="0"/>
              <a:cs typeface="Aldhabi" panose="01000000000000000000" pitchFamily="2" charset="-78"/>
            </a:rPr>
            <a:t>Wildfire counts slightly decreased since ~2006</a:t>
          </a:r>
        </a:p>
      </dsp:txBody>
      <dsp:txXfrm>
        <a:off x="0" y="1327"/>
        <a:ext cx="2526357" cy="905015"/>
      </dsp:txXfrm>
    </dsp:sp>
    <dsp:sp modelId="{7287378A-1254-49F2-B7AE-ACFCABF28589}">
      <dsp:nvSpPr>
        <dsp:cNvPr id="0" name=""/>
        <dsp:cNvSpPr/>
      </dsp:nvSpPr>
      <dsp:spPr>
        <a:xfrm>
          <a:off x="0" y="906343"/>
          <a:ext cx="252635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A088040-F14D-4599-8173-8001B6D30A91}">
      <dsp:nvSpPr>
        <dsp:cNvPr id="0" name=""/>
        <dsp:cNvSpPr/>
      </dsp:nvSpPr>
      <dsp:spPr>
        <a:xfrm>
          <a:off x="0" y="906343"/>
          <a:ext cx="2526357" cy="905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badi" panose="020B0604020104020204" pitchFamily="34" charset="0"/>
            </a:rPr>
            <a:t>Temperatures increasing across all 3 states</a:t>
          </a:r>
        </a:p>
      </dsp:txBody>
      <dsp:txXfrm>
        <a:off x="0" y="906343"/>
        <a:ext cx="2526357" cy="905015"/>
      </dsp:txXfrm>
    </dsp:sp>
    <dsp:sp modelId="{EAE08157-8222-4DD8-8D60-92DA24EEFD87}">
      <dsp:nvSpPr>
        <dsp:cNvPr id="0" name=""/>
        <dsp:cNvSpPr/>
      </dsp:nvSpPr>
      <dsp:spPr>
        <a:xfrm>
          <a:off x="0" y="1811358"/>
          <a:ext cx="252635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1AAF7DA-C614-4139-9448-DC69C3BE9D92}">
      <dsp:nvSpPr>
        <dsp:cNvPr id="0" name=""/>
        <dsp:cNvSpPr/>
      </dsp:nvSpPr>
      <dsp:spPr>
        <a:xfrm>
          <a:off x="0" y="1811358"/>
          <a:ext cx="2526357" cy="905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Abadi" panose="020B0604020104020204" pitchFamily="34" charset="0"/>
            </a:rPr>
            <a:t>Precipitation anomalies more variable</a:t>
          </a:r>
        </a:p>
      </dsp:txBody>
      <dsp:txXfrm>
        <a:off x="0" y="1811358"/>
        <a:ext cx="2526357" cy="9050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4168D-7A1B-4E8E-90AA-232E76C8CF10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2A53E-B1F4-4F0A-9FC6-E6395E179496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Abadi" panose="020B0604020104020204" pitchFamily="34" charset="0"/>
            </a:rPr>
            <a:t>Wildfire count not solely driven by climate</a:t>
          </a:r>
        </a:p>
      </dsp:txBody>
      <dsp:txXfrm>
        <a:off x="283960" y="1066136"/>
        <a:ext cx="2107770" cy="1308711"/>
      </dsp:txXfrm>
    </dsp:sp>
    <dsp:sp modelId="{23B8272E-D413-4A66-A8C6-B0698F6EEE4D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EBA346-D517-4F47-A23B-7868B1E64CCD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Abadi" panose="020B0604020104020204" pitchFamily="34" charset="0"/>
            </a:rPr>
            <a:t>Fire suppression, policy, and land use also matter</a:t>
          </a:r>
        </a:p>
      </dsp:txBody>
      <dsp:txXfrm>
        <a:off x="2959652" y="1066136"/>
        <a:ext cx="2107770" cy="1308711"/>
      </dsp:txXfrm>
    </dsp:sp>
    <dsp:sp modelId="{58B7747F-39DD-4C53-9256-5B4A1E1ABF27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96184-A3CD-4853-9146-D8ED86EFE71A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Abadi" panose="020B0604020104020204" pitchFamily="34" charset="0"/>
            </a:rPr>
            <a:t>Severity vs count: more fires doesn’t mean worse fires</a:t>
          </a:r>
        </a:p>
      </dsp:txBody>
      <dsp:txXfrm>
        <a:off x="5635343" y="1066136"/>
        <a:ext cx="2107770" cy="13087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795DC6-8B61-4C66-140B-4D5C927DE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281" y="666351"/>
            <a:ext cx="7918803" cy="3044335"/>
          </a:xfrm>
        </p:spPr>
        <p:txBody>
          <a:bodyPr anchor="b">
            <a:norm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Final Project: Climate Anomalies and Wildfires in the Western U.S.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E83F16-239C-EAFE-5C14-D4B29D0F2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281" y="3866064"/>
            <a:ext cx="7918803" cy="2234485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by Ashmita Duggal</a:t>
            </a:r>
          </a:p>
        </p:txBody>
      </p:sp>
    </p:spTree>
    <p:extLst>
      <p:ext uri="{BB962C8B-B14F-4D97-AF65-F5344CB8AC3E}">
        <p14:creationId xmlns:p14="http://schemas.microsoft.com/office/powerpoint/2010/main" val="452429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9EBF13D5-64BB-423E-9E4C-F3911447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BC7BED-6AA7-4C43-BEE8-A3CB5F8C1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1C89947A-0D9D-4559-A1F6-5F6CD1970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E0255540-1F77-4262-B834-1ED14250F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19DEE5-2EE5-445A-B461-7D2879B05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FCA5807F-F210-4970-A34F-3573405B4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E9A8BB80-30A6-41EC-BE13-1B088DC3E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38" y="908263"/>
            <a:ext cx="7619238" cy="2274996"/>
          </a:xfrm>
        </p:spPr>
        <p:txBody>
          <a:bodyPr anchor="b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Climate Anomalies and Wildfire Activity (2000–2023)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238" y="3452971"/>
            <a:ext cx="7619238" cy="2596896"/>
          </a:xfrm>
        </p:spPr>
        <p:txBody>
          <a:bodyPr anchor="t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Focus: CA, AZ, OR wildfires and climate trends</a:t>
            </a:r>
          </a:p>
          <a:p>
            <a:r>
              <a:rPr lang="en-US" sz="2800" dirty="0">
                <a:solidFill>
                  <a:schemeClr val="bg1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Goal: Do hotter, drier years = more wildfires?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 dirty="0">
                <a:latin typeface="Aldhabi" panose="01000000000000000000" pitchFamily="2" charset="-78"/>
                <a:cs typeface="Aldhabi" panose="01000000000000000000" pitchFamily="2" charset="-78"/>
              </a:rPr>
              <a:t>Data Sources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99DB21-DC15-2852-0D79-2E2208FEB3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0478753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62849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656150"/>
            <a:ext cx="4193090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73940"/>
            <a:ext cx="3696218" cy="1035781"/>
          </a:xfrm>
        </p:spPr>
        <p:txBody>
          <a:bodyPr anchor="ctr">
            <a:normAutofit/>
          </a:bodyPr>
          <a:lstStyle/>
          <a:p>
            <a:r>
              <a:rPr lang="en-US" sz="3100">
                <a:latin typeface="Aldhabi" panose="01000000000000000000" pitchFamily="2" charset="-78"/>
                <a:cs typeface="Aldhabi" panose="01000000000000000000" pitchFamily="2" charset="-78"/>
              </a:rPr>
              <a:t>Wildfire &amp; Climate Trends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5813" y="658367"/>
            <a:ext cx="3539537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8F87AB-CCEC-4343-8511-FE5815117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462" y="1134485"/>
            <a:ext cx="4039661" cy="189864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5813" y="3530966"/>
            <a:ext cx="3539537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CBD585-4007-1A07-FF0A-2A457D2A3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188" y="3995925"/>
            <a:ext cx="4837299" cy="189864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92240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C921EB-AE74-5E87-42D6-1F8752CED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6377162"/>
              </p:ext>
            </p:extLst>
          </p:nvPr>
        </p:nvGraphicFramePr>
        <p:xfrm>
          <a:off x="783771" y="2524722"/>
          <a:ext cx="2526357" cy="27177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9EBF13D5-64BB-423E-9E4C-F3911447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BC7BED-6AA7-4C43-BEE8-A3CB5F8C1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1C89947A-0D9D-4559-A1F6-5F6CD1970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E0255540-1F77-4262-B834-1ED14250F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19DEE5-2EE5-445A-B461-7D2879B05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FCA5807F-F210-4970-A34F-3573405B4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E9A8BB80-30A6-41EC-BE13-1B088DC3E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100" y="132143"/>
            <a:ext cx="7619238" cy="2274996"/>
          </a:xfrm>
        </p:spPr>
        <p:txBody>
          <a:bodyPr anchor="b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Correlation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238" y="2496873"/>
            <a:ext cx="7619238" cy="2596896"/>
          </a:xfrm>
        </p:spPr>
        <p:txBody>
          <a:bodyPr anchor="t"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Weak negative correlation: temperature vs fire count</a:t>
            </a:r>
          </a:p>
          <a:p>
            <a:r>
              <a:rPr lang="en-US" sz="1600" dirty="0" err="1">
                <a:solidFill>
                  <a:schemeClr val="bg1"/>
                </a:solidFill>
                <a:latin typeface="Abadi" panose="020B0604020104020204" pitchFamily="34" charset="0"/>
              </a:rPr>
              <a:t>AZ_Precip</a:t>
            </a:r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 shows weak negative correlation (r ≈ -0.21)</a:t>
            </a:r>
          </a:p>
          <a:p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Some results significant, but effect sizes are small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31E6F9-23AE-AF8A-24C9-C72B25930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765" y="3632206"/>
            <a:ext cx="5635652" cy="23215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9EBF13D5-64BB-423E-9E4C-F3911447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BC7BED-6AA7-4C43-BEE8-A3CB5F8C1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1C89947A-0D9D-4559-A1F6-5F6CD1970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E0255540-1F77-4262-B834-1ED14250F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19DEE5-2EE5-445A-B461-7D2879B05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FCA5807F-F210-4970-A34F-3573405B4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E9A8BB80-30A6-41EC-BE13-1B088DC3E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38" y="-248123"/>
            <a:ext cx="7619238" cy="2274996"/>
          </a:xfrm>
        </p:spPr>
        <p:txBody>
          <a:bodyPr anchor="b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Climate Variability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238" y="2089705"/>
            <a:ext cx="7619238" cy="2596896"/>
          </a:xfrm>
        </p:spPr>
        <p:txBody>
          <a:bodyPr anchor="t"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CA shows widest variation in temp &amp; </a:t>
            </a:r>
            <a:r>
              <a:rPr lang="en-US" sz="1600" dirty="0" err="1">
                <a:solidFill>
                  <a:schemeClr val="bg1"/>
                </a:solidFill>
                <a:latin typeface="Abadi" panose="020B0604020104020204" pitchFamily="34" charset="0"/>
              </a:rPr>
              <a:t>precip</a:t>
            </a:r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 anomalies</a:t>
            </a:r>
          </a:p>
          <a:p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More extremes may explain fire risk</a:t>
            </a:r>
          </a:p>
          <a:p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Boxplots visualize climate stress by state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5EA21-75F6-3BDB-EDFB-413B60EFA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803" y="3192702"/>
            <a:ext cx="6580480" cy="26989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9EBF13D5-64BB-423E-9E4C-F3911447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BC7BED-6AA7-4C43-BEE8-A3CB5F8C1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1C89947A-0D9D-4559-A1F6-5F6CD1970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E0255540-1F77-4262-B834-1ED14250F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19DEE5-2EE5-445A-B461-7D2879B05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FCA5807F-F210-4970-A34F-3573405B4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E9A8BB80-30A6-41EC-BE13-1B088DC3E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411" y="-157357"/>
            <a:ext cx="7619238" cy="2274996"/>
          </a:xfrm>
        </p:spPr>
        <p:txBody>
          <a:bodyPr anchor="b">
            <a:normAutofit/>
          </a:bodyPr>
          <a:lstStyle/>
          <a:p>
            <a:pPr algn="l"/>
            <a:r>
              <a:rPr lang="en-US" sz="4200" dirty="0">
                <a:solidFill>
                  <a:schemeClr val="bg1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Climate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728" y="2130552"/>
            <a:ext cx="7619238" cy="2596896"/>
          </a:xfrm>
        </p:spPr>
        <p:txBody>
          <a:bodyPr anchor="t"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Temp and </a:t>
            </a:r>
            <a:r>
              <a:rPr lang="en-US" sz="1600" dirty="0" err="1">
                <a:solidFill>
                  <a:schemeClr val="bg1"/>
                </a:solidFill>
                <a:latin typeface="Abadi" panose="020B0604020104020204" pitchFamily="34" charset="0"/>
              </a:rPr>
              <a:t>precip</a:t>
            </a:r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 negatively correlated in most states</a:t>
            </a:r>
          </a:p>
          <a:p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Hotter years also tend to be drier</a:t>
            </a:r>
          </a:p>
          <a:p>
            <a:r>
              <a:rPr lang="en-US" sz="1600" dirty="0">
                <a:solidFill>
                  <a:schemeClr val="bg1"/>
                </a:solidFill>
                <a:latin typeface="Abadi" panose="020B0604020104020204" pitchFamily="34" charset="0"/>
              </a:rPr>
              <a:t>Compound stress may impact wildfire behavior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C08FE2-A92F-7202-F1BB-696AAD209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028" y="3101264"/>
            <a:ext cx="4882880" cy="30363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 dirty="0">
                <a:latin typeface="Aldhabi" panose="01000000000000000000" pitchFamily="2" charset="-78"/>
                <a:cs typeface="Aldhabi" panose="01000000000000000000" pitchFamily="2" charset="-78"/>
              </a:rPr>
              <a:t>Interpretation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F6E217-185C-F665-A00F-29655DD9E2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6895507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 dirty="0">
                <a:latin typeface="Aldhabi" panose="01000000000000000000" pitchFamily="2" charset="-78"/>
                <a:cs typeface="Aldhabi" panose="01000000000000000000" pitchFamily="2" charset="-78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100" dirty="0">
                <a:latin typeface="Abadi" panose="020B0604020104020204" pitchFamily="34" charset="0"/>
              </a:rPr>
              <a:t>Climate plays a role, but it’s not the full story</a:t>
            </a:r>
          </a:p>
          <a:p>
            <a:r>
              <a:rPr lang="en-US" sz="2100" dirty="0">
                <a:latin typeface="Abadi" panose="020B0604020104020204" pitchFamily="34" charset="0"/>
              </a:rPr>
              <a:t>Weak correlations suggest more complex drivers</a:t>
            </a:r>
          </a:p>
          <a:p>
            <a:r>
              <a:rPr lang="en-US" sz="2100" dirty="0">
                <a:latin typeface="Abadi" panose="020B0604020104020204" pitchFamily="34" charset="0"/>
              </a:rPr>
              <a:t>Policy and ecological context are key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 dirty="0">
                <a:latin typeface="Aldhabi" panose="01000000000000000000" pitchFamily="2" charset="-78"/>
                <a:cs typeface="Aldhabi" panose="01000000000000000000" pitchFamily="2" charset="-78"/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lang="en-US" sz="2100" dirty="0">
                <a:latin typeface="Abadi" panose="020B0604020104020204" pitchFamily="34" charset="0"/>
              </a:rPr>
              <a:t>Use acres burned or fire intensity next</a:t>
            </a:r>
          </a:p>
          <a:p>
            <a:r>
              <a:rPr lang="en-US" sz="2100" dirty="0">
                <a:latin typeface="Abadi" panose="020B0604020104020204" pitchFamily="34" charset="0"/>
              </a:rPr>
              <a:t>Incorporate monthly/regional climate data</a:t>
            </a:r>
          </a:p>
          <a:p>
            <a:r>
              <a:rPr lang="en-US" sz="2100" dirty="0">
                <a:latin typeface="Abadi" panose="020B0604020104020204" pitchFamily="34" charset="0"/>
              </a:rPr>
              <a:t>Study human ignition and suppression effects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0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281" y="666351"/>
            <a:ext cx="7918803" cy="30443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Thanks for listening! 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247</Words>
  <Application>Microsoft Office PowerPoint</Application>
  <PresentationFormat>On-screen Show (4:3)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Abadi</vt:lpstr>
      <vt:lpstr>Aldhabi</vt:lpstr>
      <vt:lpstr>Arial</vt:lpstr>
      <vt:lpstr>Calibri</vt:lpstr>
      <vt:lpstr>Office Theme</vt:lpstr>
      <vt:lpstr>Final Project: Climate Anomalies and Wildfires in the Western U.S.</vt:lpstr>
      <vt:lpstr>Climate Anomalies and Wildfire Activity (2000–2023)</vt:lpstr>
      <vt:lpstr>Data Sources</vt:lpstr>
      <vt:lpstr>Wildfire &amp; Climate Trends</vt:lpstr>
      <vt:lpstr>Correlation Results</vt:lpstr>
      <vt:lpstr>Climate Variability</vt:lpstr>
      <vt:lpstr>Climate Relationships</vt:lpstr>
      <vt:lpstr>Interpretation</vt:lpstr>
      <vt:lpstr>Conclusion</vt:lpstr>
      <vt:lpstr>Next Steps</vt:lpstr>
      <vt:lpstr>Thanks for listening!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Ashmita Duggal</dc:creator>
  <cp:keywords/>
  <dc:description>generated using python-pptx</dc:description>
  <cp:lastModifiedBy>Duggal, Ashmita</cp:lastModifiedBy>
  <cp:revision>2</cp:revision>
  <dcterms:created xsi:type="dcterms:W3CDTF">2013-01-27T09:14:16Z</dcterms:created>
  <dcterms:modified xsi:type="dcterms:W3CDTF">2025-06-25T01:10:32Z</dcterms:modified>
  <cp:category/>
</cp:coreProperties>
</file>